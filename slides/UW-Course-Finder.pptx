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1" i="0">
                <a:solidFill>
                  <a:srgbClr val="B7A57A"/>
                </a:solidFill>
                <a:latin typeface="Calibri"/>
              </a:rPr>
              <a:t>UW-IT STUDENT INNOVATION LAB · COMMUNITY PROJECT SHOWCASE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6600" b="1" i="0">
                <a:solidFill>
                  <a:srgbClr val="FFFFFF"/>
                </a:solidFill>
                <a:latin typeface="Calibri"/>
              </a:rPr>
              <a:t>UW Course Finder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0040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400" b="0" i="0">
                <a:solidFill>
                  <a:srgbClr val="D8CCF2"/>
                </a:solidFill>
                <a:latin typeface="Calibri"/>
              </a:rPr>
              <a:t>Visualize a quarter-by-quarter path to your UW degree.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9768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Suraj Vaghela  ·  surajv23@uw.edu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5029200"/>
            <a:ext cx="3657600" cy="502920"/>
          </a:xfrm>
          <a:prstGeom prst="roundRect">
            <a:avLst>
              <a:gd name="adj" fmla="val 50000"/>
            </a:avLst>
          </a:prstGeom>
          <a:solidFill>
            <a:srgbClr val="39236A"/>
          </a:solidFill>
          <a:ln w="12700">
            <a:solidFill>
              <a:srgbClr val="6A4B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Built on 14,171 real UW courses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3550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1" i="0">
                <a:solidFill>
                  <a:srgbClr val="D8CCF2"/>
                </a:solidFill>
                <a:latin typeface="Calibri"/>
              </a:rPr>
              <a:t>University of Washington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35508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D8CCF2"/>
                </a:solidFill>
                <a:latin typeface="Calibri"/>
              </a:rP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1" i="0">
                <a:solidFill>
                  <a:srgbClr val="85754D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211B33"/>
                </a:solidFill>
                <a:latin typeface="Calibri"/>
              </a:rPr>
              <a:t>UW has the data. Students still plan by hand.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0" i="0">
                <a:solidFill>
                  <a:srgbClr val="6B6478"/>
                </a:solidFill>
                <a:latin typeface="Calibri"/>
              </a:rPr>
              <a:t>MyPlan, DARS, and a 14,000-course catalog all exist — but nothing turns “what are my requirements and prerequisites?” into “what do I take, and when?”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33756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900" b="1">
                <a:solidFill>
                  <a:srgbClr val="6A4BB0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211B33"/>
                </a:solidFill>
                <a:latin typeface="Calibri"/>
              </a:rPr>
              <a:t>Prerequisite chains are a maze — one wrong order can delay graduation a full year.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900" b="1">
                <a:solidFill>
                  <a:srgbClr val="6A4BB0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211B33"/>
                </a:solidFill>
                <a:latin typeface="Calibri"/>
              </a:rPr>
              <a:t>Degree requirements live in dense department PDFs.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900" b="1">
                <a:solidFill>
                  <a:srgbClr val="6A4BB0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211B33"/>
                </a:solidFill>
                <a:latin typeface="Calibri"/>
              </a:rPr>
              <a:t>Sequencing 12+ quarters around prereqs and course offerings is manual guesswork.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900" b="1">
                <a:solidFill>
                  <a:srgbClr val="6A4BB0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211B33"/>
                </a:solidFill>
                <a:latin typeface="Calibri"/>
              </a:rPr>
              <a:t>Transfer and returning students feel it most.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550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1" i="0">
                <a:solidFill>
                  <a:srgbClr val="6B6478"/>
                </a:solidFill>
                <a:latin typeface="Calibri"/>
              </a:rPr>
              <a:t>UW Course Finder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35508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6B6478"/>
                </a:solidFill>
                <a:latin typeface="Calibri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1" i="0">
                <a:solidFill>
                  <a:srgbClr val="85754D"/>
                </a:solidFill>
                <a:latin typeface="Calibr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211B33"/>
                </a:solidFill>
                <a:latin typeface="Calibri"/>
              </a:rPr>
              <a:t>Your major + your courses → a clear plan.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20240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0" i="0">
                <a:solidFill>
                  <a:srgbClr val="6B6478"/>
                </a:solidFill>
                <a:latin typeface="Calibri"/>
              </a:rPr>
              <a:t>Enter your major and the courses you’ve completed (or paste a DARS audit). UW Course Finder does the rest.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3108960"/>
            <a:ext cx="3310128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69848" y="3364991"/>
            <a:ext cx="502920" cy="109728"/>
          </a:xfrm>
          <a:prstGeom prst="roundRect">
            <a:avLst/>
          </a:prstGeom>
          <a:solidFill>
            <a:srgbClr val="B7A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3611880"/>
            <a:ext cx="285292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100" b="1" i="0">
                <a:solidFill>
                  <a:srgbClr val="4B2E83"/>
                </a:solidFill>
                <a:latin typeface="Calibri"/>
              </a:rPr>
              <a:t>Personalize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4160520"/>
            <a:ext cx="2852928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 i="0">
                <a:solidFill>
                  <a:srgbClr val="6B6478"/>
                </a:solidFill>
                <a:latin typeface="Calibri"/>
              </a:rPr>
              <a:t>Adapts to the courses you’ve already taken and your specialization.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3108960"/>
            <a:ext cx="3310128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26864" y="3364991"/>
            <a:ext cx="502920" cy="109728"/>
          </a:xfrm>
          <a:prstGeom prst="roundRect">
            <a:avLst/>
          </a:prstGeom>
          <a:solidFill>
            <a:srgbClr val="B7A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3611880"/>
            <a:ext cx="285292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100" b="1" i="0">
                <a:solidFill>
                  <a:srgbClr val="4B2E83"/>
                </a:solidFill>
                <a:latin typeface="Calibri"/>
              </a:rPr>
              <a:t>Sequence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6864" y="4160520"/>
            <a:ext cx="2852928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 i="0">
                <a:solidFill>
                  <a:srgbClr val="6B6478"/>
                </a:solidFill>
                <a:latin typeface="Calibri"/>
              </a:rPr>
              <a:t>A prerequisite-aware scheduler plans every quarter to graduation.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3108960"/>
            <a:ext cx="3310128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83880" y="3364991"/>
            <a:ext cx="502920" cy="109728"/>
          </a:xfrm>
          <a:prstGeom prst="roundRect">
            <a:avLst/>
          </a:prstGeom>
          <a:solidFill>
            <a:srgbClr val="B7A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3611880"/>
            <a:ext cx="285292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100" b="1" i="0">
                <a:solidFill>
                  <a:srgbClr val="4B2E83"/>
                </a:solidFill>
                <a:latin typeface="Calibri"/>
              </a:rPr>
              <a:t>Explore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4160520"/>
            <a:ext cx="2852928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 i="0">
                <a:solidFill>
                  <a:srgbClr val="6B6478"/>
                </a:solidFill>
                <a:latin typeface="Calibri"/>
              </a:rPr>
              <a:t>Click any course to see exactly what it unlocks next.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63550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1" i="0">
                <a:solidFill>
                  <a:srgbClr val="6B6478"/>
                </a:solidFill>
                <a:latin typeface="Calibri"/>
              </a:rPr>
              <a:t>UW Course Finder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35508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6B6478"/>
                </a:solidFill>
                <a:latin typeface="Calibri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1" i="0">
                <a:solidFill>
                  <a:srgbClr val="85754D"/>
                </a:solidFill>
                <a:latin typeface="Calibri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211B33"/>
                </a:solidFill>
                <a:latin typeface="Calibri"/>
              </a:rPr>
              <a:t>Two views, one personalized plan.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057400"/>
            <a:ext cx="521208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24028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100" b="1" i="0">
                <a:solidFill>
                  <a:srgbClr val="4B2E83"/>
                </a:solidFill>
                <a:latin typeface="Calibri"/>
              </a:rPr>
              <a:t>Quarter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743200"/>
            <a:ext cx="4754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 i="0">
                <a:solidFill>
                  <a:srgbClr val="6B6478"/>
                </a:solidFill>
                <a:latin typeface="Calibri"/>
              </a:rPr>
              <a:t>A prereq-aware schedule to UW’s 180-credit minimum, with an estimated graduation term.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3703320"/>
            <a:ext cx="1481328" cy="411480"/>
          </a:xfrm>
          <a:prstGeom prst="roundRect">
            <a:avLst>
              <a:gd name="adj" fmla="val 12000"/>
            </a:avLst>
          </a:prstGeom>
          <a:solidFill>
            <a:srgbClr val="F5F3FB"/>
          </a:solidFill>
          <a:ln w="12700">
            <a:solidFill>
              <a:srgbClr val="E7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4B2E83"/>
                </a:solidFill>
                <a:latin typeface="Calibri"/>
              </a:rPr>
              <a:t>Autumn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4224528"/>
            <a:ext cx="1481328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4B2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11B33"/>
                </a:solidFill>
                <a:latin typeface="Consolas"/>
              </a:rPr>
              <a:t>CSE 143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4791456"/>
            <a:ext cx="1481328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4B2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11B33"/>
                </a:solidFill>
                <a:latin typeface="Consolas"/>
              </a:rPr>
              <a:t>MATH 126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97480" y="3703320"/>
            <a:ext cx="1481328" cy="411480"/>
          </a:xfrm>
          <a:prstGeom prst="roundRect">
            <a:avLst>
              <a:gd name="adj" fmla="val 12000"/>
            </a:avLst>
          </a:prstGeom>
          <a:solidFill>
            <a:srgbClr val="F5F3FB"/>
          </a:solidFill>
          <a:ln w="12700">
            <a:solidFill>
              <a:srgbClr val="E7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4B2E83"/>
                </a:solidFill>
                <a:latin typeface="Calibri"/>
              </a:rPr>
              <a:t>Winter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97480" y="4224528"/>
            <a:ext cx="1481328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4B2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11B33"/>
                </a:solidFill>
                <a:latin typeface="Consolas"/>
              </a:rPr>
              <a:t>CSE 311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97480" y="4791456"/>
            <a:ext cx="1481328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4B2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11B33"/>
                </a:solidFill>
                <a:latin typeface="Consolas"/>
              </a:rPr>
              <a:t>CSE 351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703320"/>
            <a:ext cx="1481328" cy="411480"/>
          </a:xfrm>
          <a:prstGeom prst="roundRect">
            <a:avLst>
              <a:gd name="adj" fmla="val 12000"/>
            </a:avLst>
          </a:prstGeom>
          <a:solidFill>
            <a:srgbClr val="F5F3FB"/>
          </a:solidFill>
          <a:ln w="12700">
            <a:solidFill>
              <a:srgbClr val="E7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4B2E83"/>
                </a:solidFill>
                <a:latin typeface="Calibri"/>
              </a:rPr>
              <a:t>Spring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4224528"/>
            <a:ext cx="1481328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4B2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11B33"/>
                </a:solidFill>
                <a:latin typeface="Consolas"/>
              </a:rPr>
              <a:t>CSE 332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791456"/>
            <a:ext cx="1481328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B7A5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85754D"/>
                </a:solidFill>
                <a:latin typeface="Consolas"/>
              </a:rPr>
              <a:t>VLPA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057400"/>
            <a:ext cx="512064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224028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100" b="1" i="0">
                <a:solidFill>
                  <a:srgbClr val="4B2E83"/>
                </a:solidFill>
                <a:latin typeface="Calibri"/>
              </a:rPr>
              <a:t>Prerequisite Map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743200"/>
            <a:ext cx="4663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 i="0">
                <a:solidFill>
                  <a:srgbClr val="6B6478"/>
                </a:solidFill>
                <a:latin typeface="Calibri"/>
              </a:rPr>
              <a:t>An interactive graph — click a course to expand what it unlocks; check it off to update the plan.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19672" y="3794760"/>
            <a:ext cx="1325880" cy="548640"/>
          </a:xfrm>
          <a:prstGeom prst="roundRect">
            <a:avLst>
              <a:gd name="adj" fmla="val 18000"/>
            </a:avLst>
          </a:prstGeom>
          <a:solidFill>
            <a:srgbClr val="E6F4EC"/>
          </a:solidFill>
          <a:ln w="1905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F7A4D"/>
                </a:solidFill>
                <a:latin typeface="Consolas"/>
              </a:rPr>
              <a:t>CSE 143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82127" y="3822191"/>
            <a:ext cx="365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000" b="1" i="0">
                <a:solidFill>
                  <a:srgbClr val="6A4BB0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75320" y="3794760"/>
            <a:ext cx="1325880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4B2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11B33"/>
                </a:solidFill>
                <a:latin typeface="Consolas"/>
              </a:rPr>
              <a:t>CSE 311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37776" y="3822191"/>
            <a:ext cx="365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000" b="1" i="0">
                <a:solidFill>
                  <a:srgbClr val="6A4BB0"/>
                </a:solidFill>
                <a:latin typeface="Calibr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30968" y="3794760"/>
            <a:ext cx="1188720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9B9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9B95A8"/>
                </a:solidFill>
                <a:latin typeface="Consolas"/>
              </a:rPr>
              <a:t>CSE 332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9672" y="4800600"/>
            <a:ext cx="46634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0" i="0">
                <a:solidFill>
                  <a:srgbClr val="1F7A4D"/>
                </a:solidFill>
                <a:latin typeface="Calibri"/>
              </a:rPr>
              <a:t>■ </a:t>
            </a:r>
            <a:r>
              <a:rPr sz="1200" b="0" i="0">
                <a:solidFill>
                  <a:srgbClr val="6B6478"/>
                </a:solidFill>
                <a:latin typeface="Calibri"/>
              </a:rPr>
              <a:t>Completed    </a:t>
            </a:r>
            <a:r>
              <a:rPr sz="1200" b="0" i="0">
                <a:solidFill>
                  <a:srgbClr val="4B2E83"/>
                </a:solidFill>
                <a:latin typeface="Calibri"/>
              </a:rPr>
              <a:t>■ </a:t>
            </a:r>
            <a:r>
              <a:rPr sz="1200" b="0" i="0">
                <a:solidFill>
                  <a:srgbClr val="6B6478"/>
                </a:solidFill>
                <a:latin typeface="Calibri"/>
              </a:rPr>
              <a:t>Available now    </a:t>
            </a:r>
            <a:r>
              <a:rPr sz="1200" b="0" i="0">
                <a:solidFill>
                  <a:srgbClr val="9B95A8"/>
                </a:solidFill>
                <a:latin typeface="Calibri"/>
              </a:rPr>
              <a:t>■ </a:t>
            </a:r>
            <a:r>
              <a:rPr sz="1200" b="0" i="0">
                <a:solidFill>
                  <a:srgbClr val="6B6478"/>
                </a:solidFill>
                <a:latin typeface="Calibri"/>
              </a:rPr>
              <a:t>Prereqs needed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63550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1" i="0">
                <a:solidFill>
                  <a:srgbClr val="6B6478"/>
                </a:solidFill>
                <a:latin typeface="Calibri"/>
              </a:rPr>
              <a:t>UW Course Finder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35508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6B6478"/>
                </a:solidFill>
                <a:latin typeface="Calibri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1" i="0">
                <a:solidFill>
                  <a:srgbClr val="85754D"/>
                </a:solidFill>
                <a:latin typeface="Calibri"/>
              </a:rPr>
              <a:t>UNDER THE HOOD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211B33"/>
                </a:solidFill>
                <a:latin typeface="Calibri"/>
              </a:rPr>
              <a:t>Grounded in real UW data.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011680"/>
            <a:ext cx="248716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2194560"/>
            <a:ext cx="2121408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400" b="1" i="0">
                <a:solidFill>
                  <a:srgbClr val="4B2E83"/>
                </a:solidFill>
                <a:latin typeface="Calibri"/>
              </a:rPr>
              <a:t>14,171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971800"/>
            <a:ext cx="212140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 i="0">
                <a:solidFill>
                  <a:srgbClr val="6B6478"/>
                </a:solidFill>
                <a:latin typeface="Calibri"/>
              </a:rPr>
              <a:t>real UW Seattle courses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93008" y="2011680"/>
            <a:ext cx="248716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75888" y="2194560"/>
            <a:ext cx="2121408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400" b="1" i="0">
                <a:solidFill>
                  <a:srgbClr val="4B2E83"/>
                </a:solidFill>
                <a:latin typeface="Calibr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75888" y="2971800"/>
            <a:ext cx="212140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 i="0">
                <a:solidFill>
                  <a:srgbClr val="6B6478"/>
                </a:solidFill>
                <a:latin typeface="Calibri"/>
              </a:rPr>
              <a:t>majors + specializations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2011680"/>
            <a:ext cx="248716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2194560"/>
            <a:ext cx="2121408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400" b="1" i="0">
                <a:solidFill>
                  <a:srgbClr val="4B2E83"/>
                </a:solidFill>
                <a:latin typeface="Calibri"/>
              </a:rPr>
              <a:t>180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971800"/>
            <a:ext cx="212140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 i="0">
                <a:solidFill>
                  <a:srgbClr val="6B6478"/>
                </a:solidFill>
                <a:latin typeface="Calibri"/>
              </a:rPr>
              <a:t>credit plans, prereq-valid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96528" y="2011680"/>
            <a:ext cx="248716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79408" y="2194560"/>
            <a:ext cx="2121408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400" b="1" i="0">
                <a:solidFill>
                  <a:srgbClr val="4B2E83"/>
                </a:solidFill>
                <a:latin typeface="Calibr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2971800"/>
            <a:ext cx="212140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 i="0">
                <a:solidFill>
                  <a:srgbClr val="6B6478"/>
                </a:solidFill>
                <a:latin typeface="Calibri"/>
              </a:rPr>
              <a:t>in-browser &amp; private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977639"/>
            <a:ext cx="105156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800" b="1">
                <a:solidFill>
                  <a:srgbClr val="6A4BB0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211B33"/>
                </a:solidFill>
                <a:latin typeface="Calibri"/>
              </a:rPr>
              <a:t>Course catalog from the official UW Course Descriptions; CSE, Informatics, Math &amp; ACMS requirements encoded.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800" b="1">
                <a:solidFill>
                  <a:srgbClr val="6A4BB0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211B33"/>
                </a:solidFill>
                <a:latin typeface="Calibri"/>
              </a:rPr>
              <a:t>Paste a DARS audit or transcript — it auto-detects your completed courses, all client-side.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800" b="1">
                <a:solidFill>
                  <a:srgbClr val="6A4BB0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211B33"/>
                </a:solidFill>
                <a:latin typeface="Calibri"/>
              </a:rPr>
              <a:t>React + TypeScript + React Flow; deploys free as a static site.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63550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1" i="0">
                <a:solidFill>
                  <a:srgbClr val="6B6478"/>
                </a:solidFill>
                <a:latin typeface="Calibri"/>
              </a:rPr>
              <a:t>UW Course Finder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35508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6B6478"/>
                </a:solidFill>
                <a:latin typeface="Calibri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1" i="0">
                <a:solidFill>
                  <a:srgbClr val="85754D"/>
                </a:solidFill>
                <a:latin typeface="Calibri"/>
              </a:rPr>
              <a:t>THE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211B33"/>
                </a:solidFill>
                <a:latin typeface="Calibri"/>
              </a:rPr>
              <a:t>Clearer planning, on-time graduation.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01168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 b="1">
                <a:solidFill>
                  <a:srgbClr val="6A4BB0"/>
                </a:solidFill>
                <a:latin typeface="Calibri"/>
              </a:rPr>
              <a:t>▸  </a:t>
            </a:r>
            <a:r>
              <a:rPr sz="1900" b="1" i="0">
                <a:solidFill>
                  <a:srgbClr val="4B2E83"/>
                </a:solidFill>
                <a:latin typeface="Calibri"/>
              </a:rPr>
              <a:t>For students: </a:t>
            </a:r>
            <a:r>
              <a:rPr sz="1900" b="0" i="0">
                <a:solidFill>
                  <a:srgbClr val="211B33"/>
                </a:solidFill>
                <a:latin typeface="Calibri"/>
              </a:rPr>
              <a:t>better course decisions, fewer wasted credits, less adviser back-and-forth.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 b="1">
                <a:solidFill>
                  <a:srgbClr val="6A4BB0"/>
                </a:solidFill>
                <a:latin typeface="Calibri"/>
              </a:rPr>
              <a:t>▸  </a:t>
            </a:r>
            <a:r>
              <a:rPr sz="1900" b="1" i="0">
                <a:solidFill>
                  <a:srgbClr val="4B2E83"/>
                </a:solidFill>
                <a:latin typeface="Calibri"/>
              </a:rPr>
              <a:t>Extensible by design: </a:t>
            </a:r>
            <a:r>
              <a:rPr sz="1900" b="0" i="0">
                <a:solidFill>
                  <a:srgbClr val="211B33"/>
                </a:solidFill>
                <a:latin typeface="Calibri"/>
              </a:rPr>
              <a:t>every major is pure data — a new program is one file, no code.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 b="1">
                <a:solidFill>
                  <a:srgbClr val="6A4BB0"/>
                </a:solidFill>
                <a:latin typeface="Calibri"/>
              </a:rPr>
              <a:t>▸  </a:t>
            </a:r>
            <a:r>
              <a:rPr sz="1900" b="1" i="0">
                <a:solidFill>
                  <a:srgbClr val="4B2E83"/>
                </a:solidFill>
                <a:latin typeface="Calibri"/>
              </a:rPr>
              <a:t>A genuine gap: </a:t>
            </a:r>
            <a:r>
              <a:rPr sz="1900" b="0" i="0">
                <a:solidFill>
                  <a:srgbClr val="211B33"/>
                </a:solidFill>
                <a:latin typeface="Calibri"/>
              </a:rPr>
              <a:t>UW-IT’s own prereq-map (archived 2022) only </a:t>
            </a:r>
            <a:r>
              <a:rPr sz="1900" b="0" i="1">
                <a:solidFill>
                  <a:srgbClr val="211B33"/>
                </a:solidFill>
                <a:latin typeface="Calibri"/>
              </a:rPr>
              <a:t>visualized</a:t>
            </a:r>
            <a:r>
              <a:rPr sz="1900" b="0" i="0">
                <a:solidFill>
                  <a:srgbClr val="211B33"/>
                </a:solidFill>
                <a:latin typeface="Calibri"/>
              </a:rPr>
              <a:t> prerequisites; this </a:t>
            </a:r>
            <a:r>
              <a:rPr sz="1900" b="0" i="1">
                <a:solidFill>
                  <a:srgbClr val="211B33"/>
                </a:solidFill>
                <a:latin typeface="Calibri"/>
              </a:rPr>
              <a:t>plans</a:t>
            </a:r>
            <a:r>
              <a:rPr sz="1900" b="0" i="0">
                <a:solidFill>
                  <a:srgbClr val="211B33"/>
                </a:solidFill>
                <a:latin typeface="Calibri"/>
              </a:rPr>
              <a:t> a personalized degree.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4480560"/>
            <a:ext cx="10515600" cy="1280160"/>
          </a:xfrm>
          <a:prstGeom prst="roundRect">
            <a:avLst>
              <a:gd name="adj" fmla="val 4000"/>
            </a:avLst>
          </a:prstGeom>
          <a:solidFill>
            <a:srgbClr val="FCFBF7"/>
          </a:solidFill>
          <a:ln w="12700">
            <a:solidFill>
              <a:srgbClr val="B7A5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4617720"/>
            <a:ext cx="99669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0" i="0">
                <a:solidFill>
                  <a:srgbClr val="211B33"/>
                </a:solidFill>
                <a:latin typeface="Calibri"/>
              </a:rPr>
              <a:t>A natural input to MyPlan and advising — turning static requirements into a living, personal roadmap for every Husky.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3550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1" i="0">
                <a:solidFill>
                  <a:srgbClr val="6B6478"/>
                </a:solidFill>
                <a:latin typeface="Calibri"/>
              </a:rPr>
              <a:t>UW Course Finder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35508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6B6478"/>
                </a:solidFill>
                <a:latin typeface="Calibri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1" i="0">
                <a:solidFill>
                  <a:srgbClr val="85754D"/>
                </a:solidFill>
                <a:latin typeface="Calibri"/>
              </a:rPr>
              <a:t>WHAT’S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211B33"/>
                </a:solidFill>
                <a:latin typeface="Calibri"/>
              </a:rPr>
              <a:t>Roadmap.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0312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2000" b="1">
                <a:solidFill>
                  <a:srgbClr val="6A4BB0"/>
                </a:solidFill>
                <a:latin typeface="Calibri"/>
              </a:rPr>
              <a:t>▸  </a:t>
            </a:r>
            <a:r>
              <a:rPr sz="2000" b="0" i="0">
                <a:solidFill>
                  <a:srgbClr val="211B33"/>
                </a:solidFill>
                <a:latin typeface="Calibri"/>
              </a:rPr>
              <a:t>Expand to more majors and minors across all three campuses.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2000" b="1">
                <a:solidFill>
                  <a:srgbClr val="6A4BB0"/>
                </a:solidFill>
                <a:latin typeface="Calibri"/>
              </a:rPr>
              <a:t>▸  </a:t>
            </a:r>
            <a:r>
              <a:rPr sz="2000" b="0" i="0">
                <a:solidFill>
                  <a:srgbClr val="211B33"/>
                </a:solidFill>
                <a:latin typeface="Calibri"/>
              </a:rPr>
              <a:t>Model UW’s full “one-of / all-of” prerequisite logic for exact accuracy.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2000" b="1">
                <a:solidFill>
                  <a:srgbClr val="6A4BB0"/>
                </a:solidFill>
                <a:latin typeface="Calibri"/>
              </a:rPr>
              <a:t>▸  </a:t>
            </a:r>
            <a:r>
              <a:rPr sz="2000" b="0" i="0">
                <a:solidFill>
                  <a:srgbClr val="211B33"/>
                </a:solidFill>
                <a:latin typeface="Calibri"/>
              </a:rPr>
              <a:t>Live course &amp; offerings data via a MyPlan partnership.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2000" b="1">
                <a:solidFill>
                  <a:srgbClr val="6A4BB0"/>
                </a:solidFill>
                <a:latin typeface="Calibri"/>
              </a:rPr>
              <a:t>▸  </a:t>
            </a:r>
            <a:r>
              <a:rPr sz="2000" b="0" i="0">
                <a:solidFill>
                  <a:srgbClr val="211B33"/>
                </a:solidFill>
                <a:latin typeface="Calibri"/>
              </a:rPr>
              <a:t>Save, compare, and share plans; mobile-first layout.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3550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1" i="0">
                <a:solidFill>
                  <a:srgbClr val="6B6478"/>
                </a:solidFill>
                <a:latin typeface="Calibri"/>
              </a:rPr>
              <a:t>UW Course Finder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35508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6B6478"/>
                </a:solidFill>
                <a:latin typeface="Calibri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1" i="0">
                <a:solidFill>
                  <a:srgbClr val="B7A57A"/>
                </a:solidFill>
                <a:latin typeface="Calibri"/>
              </a:rPr>
              <a:t>TRY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6070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5800" b="1" i="0">
                <a:solidFill>
                  <a:srgbClr val="FFFFFF"/>
                </a:solidFill>
                <a:latin typeface="Calibri"/>
              </a:rPr>
              <a:t>Plan your path.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10896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Live demo:  </a:t>
            </a:r>
            <a:r>
              <a:rPr sz="2000" b="0" i="0">
                <a:solidFill>
                  <a:srgbClr val="D8CCF2"/>
                </a:solidFill>
                <a:latin typeface="Calibri"/>
              </a:rPr>
              <a:t>svog23.github.io/uwcoursefinder</a:t>
            </a:r>
          </a:p>
          <a:p>
            <a:pPr algn="l">
              <a:lnSpc>
                <a:spcPct val="16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Code:  </a:t>
            </a:r>
            <a:r>
              <a:rPr sz="2000" b="0" i="0">
                <a:solidFill>
                  <a:srgbClr val="D8CCF2"/>
                </a:solidFill>
                <a:latin typeface="Calibri"/>
              </a:rPr>
              <a:t>github.com/SVOG23/UWCourseFinder</a:t>
            </a:r>
          </a:p>
          <a:p>
            <a:pPr algn="l">
              <a:lnSpc>
                <a:spcPct val="16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Contact:  </a:t>
            </a:r>
            <a:r>
              <a:rPr sz="2000" b="0" i="0">
                <a:solidFill>
                  <a:srgbClr val="D8CCF2"/>
                </a:solidFill>
                <a:latin typeface="Calibri"/>
              </a:rPr>
              <a:t>Suraj Vaghela · surajv23@uw.edu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5778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 i="0">
                <a:solidFill>
                  <a:srgbClr val="D8CCF2"/>
                </a:solidFill>
                <a:latin typeface="Calibri"/>
              </a:rPr>
              <a:t>An unofficial, student-built planning aid — not affiliated with or endorsed by UW.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550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1" i="0">
                <a:solidFill>
                  <a:srgbClr val="D8CCF2"/>
                </a:solidFill>
                <a:latin typeface="Calibri"/>
              </a:rPr>
              <a:t>University of Washington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35508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D8CCF2"/>
                </a:solidFill>
                <a:latin typeface="Calibri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