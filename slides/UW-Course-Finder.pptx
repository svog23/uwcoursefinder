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B7A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B7A57A"/>
                </a:solidFill>
                <a:latin typeface="Consolas"/>
              </a:rPr>
              <a:t>UW-IT STUDENT INNOVATION LAB · COMMUNITY PROJECT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8046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6200" b="0" i="0">
                <a:solidFill>
                  <a:srgbClr val="FFFFFF"/>
                </a:solidFill>
                <a:latin typeface="Georgia"/>
              </a:rPr>
              <a:t>UW Course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15468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200" b="0" i="0">
                <a:solidFill>
                  <a:srgbClr val="D7CFE6"/>
                </a:solidFill>
                <a:latin typeface="Calibri"/>
              </a:rPr>
              <a:t>Visualize a quarter-by-quarter path to your UW degree.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29768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Suraj Vaghela  ·  surajv23@uw.edu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983480"/>
            <a:ext cx="3657600" cy="502920"/>
          </a:xfrm>
          <a:prstGeom prst="roundRect">
            <a:avLst>
              <a:gd name="adj" fmla="val 50000"/>
            </a:avLst>
          </a:prstGeom>
          <a:solidFill>
            <a:srgbClr val="3D2569"/>
          </a:solidFill>
          <a:ln w="12700">
            <a:solidFill>
              <a:srgbClr val="B7A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Consolas"/>
              </a:rPr>
              <a:t>Built on 14,171 real UW courses</a:t>
            </a:r>
          </a:p>
        </p:txBody>
      </p:sp>
      <p:sp>
        <p:nvSpPr>
          <p:cNvPr id="9" name="Donut 8"/>
          <p:cNvSpPr/>
          <p:nvPr/>
        </p:nvSpPr>
        <p:spPr>
          <a:xfrm>
            <a:off x="9098280" y="2194560"/>
            <a:ext cx="2286000" cy="2286000"/>
          </a:xfrm>
          <a:prstGeom prst="donut">
            <a:avLst>
              <a:gd name="adj" fmla="val 17000"/>
            </a:avLst>
          </a:prstGeom>
          <a:solidFill>
            <a:srgbClr val="B7A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2907792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52%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D7CFE6"/>
                </a:solidFill>
                <a:latin typeface="Consolas"/>
              </a:rP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D7CFE6"/>
                </a:solidFill>
                <a:latin typeface="Calibri"/>
              </a:rPr>
              <a:t>University of Washington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D7CFE6"/>
                </a:solidFill>
                <a:latin typeface="Consolas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85754D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0" i="0">
                <a:solidFill>
                  <a:srgbClr val="241C3B"/>
                </a:solidFill>
                <a:latin typeface="Georgia"/>
              </a:rPr>
              <a:t>UW has the data. Students still plan by hand.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2024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 i="0">
                <a:solidFill>
                  <a:srgbClr val="5B5469"/>
                </a:solidFill>
                <a:latin typeface="Calibri"/>
              </a:rPr>
              <a:t>MyPlan, DARS, and a 14,000-course catalog all exist — but nothing turns “what are my requirements and prerequisites?” into “what do I take, and when?”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9184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900" b="1">
                <a:solidFill>
                  <a:srgbClr val="85754D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241C3B"/>
                </a:solidFill>
                <a:latin typeface="Calibri"/>
              </a:rPr>
              <a:t>Prerequisite chains are a maze — one wrong order can delay graduation a full year.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900" b="1">
                <a:solidFill>
                  <a:srgbClr val="85754D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241C3B"/>
                </a:solidFill>
                <a:latin typeface="Calibri"/>
              </a:rPr>
              <a:t>Degree requirements live in dense department PDFs.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900" b="1">
                <a:solidFill>
                  <a:srgbClr val="85754D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241C3B"/>
                </a:solidFill>
                <a:latin typeface="Calibri"/>
              </a:rPr>
              <a:t>Sequencing 12+ quarters around prereqs and course offerings is manual guesswork.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900" b="1">
                <a:solidFill>
                  <a:srgbClr val="85754D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241C3B"/>
                </a:solidFill>
                <a:latin typeface="Calibri"/>
              </a:rPr>
              <a:t>Transfer and returning students feel it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8C8499"/>
                </a:solidFill>
                <a:latin typeface="Calibri"/>
              </a:rPr>
              <a:t>UW Course Finder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8C8499"/>
                </a:solidFill>
                <a:latin typeface="Consolas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85754D"/>
                </a:solidFill>
                <a:latin typeface="Consola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0" i="0">
                <a:solidFill>
                  <a:srgbClr val="241C3B"/>
                </a:solidFill>
                <a:latin typeface="Georgia"/>
              </a:rPr>
              <a:t>Your major + your courses → a clear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74519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 i="0">
                <a:solidFill>
                  <a:srgbClr val="5B5469"/>
                </a:solidFill>
                <a:latin typeface="Calibri"/>
              </a:rPr>
              <a:t>Pick your major and the app builds a prerequisite-valid plan instantly — then you shape it, quarter by quarter.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063240"/>
            <a:ext cx="3310128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8992" y="3337560"/>
            <a:ext cx="502920" cy="91440"/>
          </a:xfrm>
          <a:prstGeom prst="roundRect">
            <a:avLst/>
          </a:prstGeom>
          <a:solidFill>
            <a:srgbClr val="B7A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5204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200" b="0" i="0">
                <a:solidFill>
                  <a:srgbClr val="4B2E83"/>
                </a:solidFill>
                <a:latin typeface="Georgia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4114800"/>
            <a:ext cx="2834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5B5469"/>
                </a:solidFill>
                <a:latin typeface="Calibri"/>
              </a:rPr>
              <a:t>An auto-scheduler seeds a quarter-by-quarter plan that respects every prerequisite.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3063240"/>
            <a:ext cx="3310128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36008" y="3337560"/>
            <a:ext cx="502920" cy="91440"/>
          </a:xfrm>
          <a:prstGeom prst="roundRect">
            <a:avLst/>
          </a:prstGeom>
          <a:solidFill>
            <a:srgbClr val="B7A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35204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200" b="0" i="0">
                <a:solidFill>
                  <a:srgbClr val="4B2E83"/>
                </a:solidFill>
                <a:latin typeface="Georgia"/>
              </a:rPr>
              <a:t>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4114800"/>
            <a:ext cx="2834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5B5469"/>
                </a:solidFill>
                <a:latin typeface="Calibri"/>
              </a:rPr>
              <a:t>Browse the catalog and add, remove, or move courses between quarters.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063240"/>
            <a:ext cx="3310128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3024" y="3337560"/>
            <a:ext cx="502920" cy="91440"/>
          </a:xfrm>
          <a:prstGeom prst="roundRect">
            <a:avLst/>
          </a:prstGeom>
          <a:solidFill>
            <a:srgbClr val="B7A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35204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200" b="0" i="0">
                <a:solidFill>
                  <a:srgbClr val="4B2E83"/>
                </a:solidFill>
                <a:latin typeface="Georgia"/>
              </a:rPr>
              <a:t>Explore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4114800"/>
            <a:ext cx="2834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5B5469"/>
                </a:solidFill>
                <a:latin typeface="Calibri"/>
              </a:rPr>
              <a:t>An interactive map shows how each course flows into the ones it unlocks.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8C8499"/>
                </a:solidFill>
                <a:latin typeface="Calibri"/>
              </a:rPr>
              <a:t>UW Course Finder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8C8499"/>
                </a:solidFill>
                <a:latin typeface="Consolas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85754D"/>
                </a:solidFill>
                <a:latin typeface="Consola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0" i="0">
                <a:solidFill>
                  <a:srgbClr val="241C3B"/>
                </a:solidFill>
                <a:latin typeface="Georgia"/>
              </a:rPr>
              <a:t>Two views, one personalized plan.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011680"/>
            <a:ext cx="52120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100" b="0" i="0">
                <a:solidFill>
                  <a:srgbClr val="4B2E83"/>
                </a:solidFill>
                <a:latin typeface="Georgia"/>
              </a:rPr>
              <a:t>Quarter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8C8499"/>
                </a:solidFill>
                <a:latin typeface="Calibri"/>
              </a:rPr>
              <a:t>An editable schedule to UW’s 180-credit minimum, with an estimated graduation term.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456432"/>
            <a:ext cx="118872" cy="118872"/>
          </a:xfrm>
          <a:prstGeom prst="roundRect">
            <a:avLst/>
          </a:prstGeom>
          <a:solidFill>
            <a:srgbClr val="C97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383280"/>
            <a:ext cx="15727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241C3B"/>
                </a:solidFill>
                <a:latin typeface="Calibri"/>
              </a:rPr>
              <a:t>Autumn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703320"/>
            <a:ext cx="1572768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3776472"/>
            <a:ext cx="11155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4B2E83"/>
                </a:solidFill>
                <a:latin typeface="Consolas"/>
              </a:rPr>
              <a:t>CSE 143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57984" y="3803904"/>
            <a:ext cx="420624" cy="237744"/>
          </a:xfrm>
          <a:prstGeom prst="roundRect">
            <a:avLst>
              <a:gd name="adj" fmla="val 30000"/>
            </a:avLst>
          </a:prstGeom>
          <a:solidFill>
            <a:srgbClr val="F3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5754D"/>
                </a:solidFill>
                <a:latin typeface="Calibri"/>
              </a:rPr>
              <a:t>5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4069080"/>
            <a:ext cx="13350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B5469"/>
                </a:solidFill>
                <a:latin typeface="Calibri"/>
              </a:rPr>
              <a:t>Computer Programming II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6152" y="4498848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4B2E83"/>
                </a:solidFill>
                <a:latin typeface="Calibri"/>
              </a:rPr>
              <a:t>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24912" y="3456432"/>
            <a:ext cx="118872" cy="118872"/>
          </a:xfrm>
          <a:prstGeom prst="roundRect">
            <a:avLst/>
          </a:prstGeom>
          <a:solidFill>
            <a:srgbClr val="5B7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7792" y="3383280"/>
            <a:ext cx="15727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241C3B"/>
                </a:solidFill>
                <a:latin typeface="Calibri"/>
              </a:rPr>
              <a:t>Winter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24912" y="3703320"/>
            <a:ext cx="1572768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43784" y="3776472"/>
            <a:ext cx="11155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4B2E83"/>
                </a:solidFill>
                <a:latin typeface="Consolas"/>
              </a:rPr>
              <a:t>CSE 311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5616" y="3803904"/>
            <a:ext cx="420624" cy="237744"/>
          </a:xfrm>
          <a:prstGeom prst="roundRect">
            <a:avLst>
              <a:gd name="adj" fmla="val 30000"/>
            </a:avLst>
          </a:prstGeom>
          <a:solidFill>
            <a:srgbClr val="F3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5754D"/>
                </a:solidFill>
                <a:latin typeface="Calibri"/>
              </a:rPr>
              <a:t>4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3784" y="4069080"/>
            <a:ext cx="13350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B5469"/>
                </a:solidFill>
                <a:latin typeface="Calibri"/>
              </a:rPr>
              <a:t>Foundations of Computing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43784" y="4498848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6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85754D"/>
                </a:solidFill>
                <a:latin typeface="Calibri"/>
              </a:rPr>
              <a:t>In 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3456432"/>
            <a:ext cx="118872" cy="118872"/>
          </a:xfrm>
          <a:prstGeom prst="roundRect">
            <a:avLst/>
          </a:prstGeom>
          <a:solidFill>
            <a:srgbClr val="5E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3383280"/>
            <a:ext cx="15727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241C3B"/>
                </a:solidFill>
                <a:latin typeface="Calibri"/>
              </a:rPr>
              <a:t>Spring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2544" y="3703320"/>
            <a:ext cx="1572768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71416" y="3776472"/>
            <a:ext cx="11155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4B2E83"/>
                </a:solidFill>
                <a:latin typeface="Consolas"/>
              </a:rPr>
              <a:t>CSE 332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13248" y="3803904"/>
            <a:ext cx="420624" cy="237744"/>
          </a:xfrm>
          <a:prstGeom prst="roundRect">
            <a:avLst>
              <a:gd name="adj" fmla="val 30000"/>
            </a:avLst>
          </a:prstGeom>
          <a:solidFill>
            <a:srgbClr val="F3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5754D"/>
                </a:solidFill>
                <a:latin typeface="Calibri"/>
              </a:rPr>
              <a:t>4 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1416" y="4069080"/>
            <a:ext cx="13350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B5469"/>
                </a:solidFill>
                <a:latin typeface="Calibri"/>
              </a:rPr>
              <a:t>Data Structures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71416" y="4498848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6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85754D"/>
                </a:solidFill>
                <a:latin typeface="Calibri"/>
              </a:rPr>
              <a:t>In plan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01168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21945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100" b="0" i="0">
                <a:solidFill>
                  <a:srgbClr val="4B2E83"/>
                </a:solidFill>
                <a:latin typeface="Georgia"/>
              </a:rPr>
              <a:t>Prerequisite 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2697480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8C8499"/>
                </a:solidFill>
                <a:latin typeface="Calibri"/>
              </a:rPr>
              <a:t>A pannable map — drag nodes, zoom, and trace how courses unlock the next.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9672" y="3337560"/>
            <a:ext cx="4608576" cy="2057400"/>
          </a:xfrm>
          <a:prstGeom prst="roundRect">
            <a:avLst>
              <a:gd name="adj" fmla="val 5000"/>
            </a:avLst>
          </a:prstGeom>
          <a:solidFill>
            <a:srgbClr val="FAF8F3"/>
          </a:solidFill>
          <a:ln w="12700">
            <a:solidFill>
              <a:srgbClr val="ECE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8101583" y="3712463"/>
            <a:ext cx="768097" cy="512065"/>
          </a:xfrm>
          <a:prstGeom prst="line">
            <a:avLst/>
          </a:prstGeom>
          <a:ln w="19050">
            <a:solidFill>
              <a:srgbClr val="CFC8B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101583" y="4370832"/>
            <a:ext cx="768097" cy="530352"/>
          </a:xfrm>
          <a:prstGeom prst="line">
            <a:avLst/>
          </a:prstGeom>
          <a:ln w="19050">
            <a:solidFill>
              <a:srgbClr val="CFC8B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287000" y="3822191"/>
            <a:ext cx="228600" cy="475489"/>
          </a:xfrm>
          <a:prstGeom prst="line">
            <a:avLst/>
          </a:prstGeom>
          <a:ln w="19050">
            <a:solidFill>
              <a:srgbClr val="CFC8B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675120" y="3456432"/>
            <a:ext cx="1417320" cy="566928"/>
          </a:xfrm>
          <a:prstGeom prst="roundRect">
            <a:avLst>
              <a:gd name="adj" fmla="val 16000"/>
            </a:avLst>
          </a:prstGeom>
          <a:solidFill>
            <a:srgbClr val="4B2E83"/>
          </a:solidFill>
          <a:ln w="19050">
            <a:solidFill>
              <a:srgbClr val="4B2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CSE 143</a:t>
            </a:r>
          </a:p>
          <a:p>
            <a:r>
              <a:rPr sz="800">
                <a:solidFill>
                  <a:srgbClr val="E5DDF2"/>
                </a:solidFill>
                <a:latin typeface="Calibri"/>
              </a:rPr>
              <a:t>Computer Programming II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4645152"/>
            <a:ext cx="1417320" cy="566928"/>
          </a:xfrm>
          <a:prstGeom prst="roundRect">
            <a:avLst>
              <a:gd name="adj" fmla="val 16000"/>
            </a:avLst>
          </a:prstGeom>
          <a:solidFill>
            <a:srgbClr val="4B2E83"/>
          </a:solidFill>
          <a:ln w="19050">
            <a:solidFill>
              <a:srgbClr val="4B2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MATH 126</a:t>
            </a:r>
          </a:p>
          <a:p>
            <a:r>
              <a:rPr sz="800">
                <a:solidFill>
                  <a:srgbClr val="E5DDF2"/>
                </a:solidFill>
                <a:latin typeface="Calibri"/>
              </a:rPr>
              <a:t>Calculus III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9680" y="4023360"/>
            <a:ext cx="1417320" cy="566928"/>
          </a:xfrm>
          <a:prstGeom prst="roundRect">
            <a:avLst>
              <a:gd name="adj" fmla="val 16000"/>
            </a:avLst>
          </a:prstGeom>
          <a:solidFill>
            <a:srgbClr val="FBF6EA"/>
          </a:solidFill>
          <a:ln w="19050">
            <a:solidFill>
              <a:srgbClr val="B7A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100" b="1">
                <a:solidFill>
                  <a:srgbClr val="4B2E83"/>
                </a:solidFill>
                <a:latin typeface="Consolas"/>
              </a:rPr>
              <a:t>CSE 311</a:t>
            </a:r>
          </a:p>
          <a:p>
            <a:r>
              <a:rPr sz="800">
                <a:solidFill>
                  <a:srgbClr val="5B5469"/>
                </a:solidFill>
                <a:latin typeface="Calibri"/>
              </a:rPr>
              <a:t>Foundations of Computing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3566160"/>
            <a:ext cx="141732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100" b="1">
                <a:solidFill>
                  <a:srgbClr val="4B2E83"/>
                </a:solidFill>
                <a:latin typeface="Consolas"/>
              </a:rPr>
              <a:t>CSE 332</a:t>
            </a:r>
          </a:p>
          <a:p>
            <a:r>
              <a:rPr sz="800">
                <a:solidFill>
                  <a:srgbClr val="5B5469"/>
                </a:solidFill>
                <a:latin typeface="Calibri"/>
              </a:rPr>
              <a:t>Data Structures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9672" y="54864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4B2E83"/>
                </a:solidFill>
                <a:latin typeface="Calibri"/>
              </a:rPr>
              <a:t>■ </a:t>
            </a:r>
            <a:r>
              <a:rPr sz="1100" b="0" i="0">
                <a:solidFill>
                  <a:srgbClr val="8C8499"/>
                </a:solidFill>
                <a:latin typeface="Calibri"/>
              </a:rPr>
              <a:t>Completed   </a:t>
            </a:r>
            <a:r>
              <a:rPr sz="1100" b="0" i="0">
                <a:solidFill>
                  <a:srgbClr val="B7A57A"/>
                </a:solidFill>
                <a:latin typeface="Calibri"/>
              </a:rPr>
              <a:t>■ </a:t>
            </a:r>
            <a:r>
              <a:rPr sz="1100" b="0" i="0">
                <a:solidFill>
                  <a:srgbClr val="8C8499"/>
                </a:solidFill>
                <a:latin typeface="Calibri"/>
              </a:rPr>
              <a:t>Planned   </a:t>
            </a:r>
            <a:r>
              <a:rPr sz="1100" b="0" i="0">
                <a:solidFill>
                  <a:srgbClr val="DDD6C8"/>
                </a:solidFill>
                <a:latin typeface="Calibri"/>
              </a:rPr>
              <a:t>■ </a:t>
            </a:r>
            <a:r>
              <a:rPr sz="1100" b="0" i="0">
                <a:solidFill>
                  <a:srgbClr val="8C8499"/>
                </a:solidFill>
                <a:latin typeface="Calibri"/>
              </a:rPr>
              <a:t>Available later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8C8499"/>
                </a:solidFill>
                <a:latin typeface="Calibri"/>
              </a:rPr>
              <a:t>UW Course Finder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8C8499"/>
                </a:solidFill>
                <a:latin typeface="Consolas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85754D"/>
                </a:solidFill>
                <a:latin typeface="Consolas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0" i="0">
                <a:solidFill>
                  <a:srgbClr val="241C3B"/>
                </a:solidFill>
                <a:latin typeface="Georgia"/>
              </a:rPr>
              <a:t>Grounded in real UW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65960"/>
            <a:ext cx="24871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148840"/>
            <a:ext cx="21214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200" b="0" i="0">
                <a:solidFill>
                  <a:srgbClr val="4B2E83"/>
                </a:solidFill>
                <a:latin typeface="Georgia"/>
              </a:rPr>
              <a:t>14,171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926080"/>
            <a:ext cx="21214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8C8499"/>
                </a:solidFill>
                <a:latin typeface="Calibri"/>
              </a:rPr>
              <a:t>real UW Seattle courses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1965960"/>
            <a:ext cx="24871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2148840"/>
            <a:ext cx="21214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200" b="0" i="0">
                <a:solidFill>
                  <a:srgbClr val="4B2E83"/>
                </a:solidFill>
                <a:latin typeface="Georg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2926080"/>
            <a:ext cx="21214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8C8499"/>
                </a:solidFill>
                <a:latin typeface="Calibri"/>
              </a:rPr>
              <a:t>majors + specializations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965960"/>
            <a:ext cx="24871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148840"/>
            <a:ext cx="21214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200" b="0" i="0">
                <a:solidFill>
                  <a:srgbClr val="4B2E83"/>
                </a:solidFill>
                <a:latin typeface="Georgia"/>
              </a:rPr>
              <a:t>180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926080"/>
            <a:ext cx="21214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8C8499"/>
                </a:solidFill>
                <a:latin typeface="Calibri"/>
              </a:rPr>
              <a:t>credit plans, prereq-valid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96528" y="1965960"/>
            <a:ext cx="24871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2148840"/>
            <a:ext cx="21214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200" b="0" i="0">
                <a:solidFill>
                  <a:srgbClr val="4B2E83"/>
                </a:solidFill>
                <a:latin typeface="Georgia"/>
              </a:rPr>
              <a:t>58 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2926080"/>
            <a:ext cx="21214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8C8499"/>
                </a:solidFill>
                <a:latin typeface="Calibri"/>
              </a:rPr>
              <a:t>tiny, in-browser, private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93192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800" b="1">
                <a:solidFill>
                  <a:srgbClr val="85754D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41C3B"/>
                </a:solidFill>
                <a:latin typeface="Calibri"/>
              </a:rPr>
              <a:t>Course catalog from the official UW Course Descriptions; CSE, Informatics, Math &amp; ACMS requirements encoded.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800" b="1">
                <a:solidFill>
                  <a:srgbClr val="85754D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41C3B"/>
                </a:solidFill>
                <a:latin typeface="Calibri"/>
              </a:rPr>
              <a:t>An auto-scheduler seeds the plan; everything is editable and saved in your browser.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800" b="1">
                <a:solidFill>
                  <a:srgbClr val="85754D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41C3B"/>
                </a:solidFill>
                <a:latin typeface="Calibri"/>
              </a:rPr>
              <a:t>React + TypeScript with a hand-built map canvas — no heavy frameworks; deploys free as a static site.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8C8499"/>
                </a:solidFill>
                <a:latin typeface="Calibri"/>
              </a:rPr>
              <a:t>UW Course Finder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8C8499"/>
                </a:solidFill>
                <a:latin typeface="Consolas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85754D"/>
                </a:solidFill>
                <a:latin typeface="Consolas"/>
              </a:rPr>
              <a:t>LANDSCAPE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0" i="0">
                <a:solidFill>
                  <a:srgbClr val="241C3B"/>
                </a:solidFill>
                <a:latin typeface="Georgia"/>
              </a:rPr>
              <a:t>Different by design — built for every Husky.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011680"/>
            <a:ext cx="521208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0" i="0">
                <a:solidFill>
                  <a:srgbClr val="4B2E83"/>
                </a:solidFill>
                <a:latin typeface="Georgia"/>
              </a:rPr>
              <a:t>What exists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24912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85754D"/>
                </a:solidFill>
                <a:latin typeface="Consolas"/>
              </a:rPr>
              <a:t>MyPlan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724912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B5469"/>
                </a:solidFill>
                <a:latin typeface="Calibri"/>
              </a:rPr>
              <a:t>Builds a schedule — no prereq-valid degree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38144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85754D"/>
                </a:solidFill>
                <a:latin typeface="Consolas"/>
              </a:rPr>
              <a:t>DARS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438144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B5469"/>
                </a:solidFill>
                <a:latin typeface="Calibri"/>
              </a:rPr>
              <a:t>A checklist of what's left — no sequencing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51376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85754D"/>
                </a:solidFill>
                <a:latin typeface="Consolas"/>
              </a:rPr>
              <a:t>prereq-map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151376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B5469"/>
                </a:solidFill>
                <a:latin typeface="Calibri"/>
              </a:rPr>
              <a:t>Visual only (archived 2022) — no personalization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6460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4B2E83"/>
                </a:solidFill>
                <a:latin typeface="Consolas"/>
              </a:rPr>
              <a:t>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4864608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241C3B"/>
                </a:solidFill>
                <a:latin typeface="Calibri"/>
              </a:rPr>
              <a:t>Auto-planned + editable + interactive prereq map, per major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011680"/>
            <a:ext cx="512064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1945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0" i="0">
                <a:solidFill>
                  <a:srgbClr val="4B2E83"/>
                </a:solidFill>
                <a:latin typeface="Georgia"/>
              </a:rPr>
              <a:t>Who it's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743200"/>
            <a:ext cx="4617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400"/>
              </a:spcAft>
            </a:pPr>
            <a:r>
              <a:rPr sz="1400" b="1">
                <a:solidFill>
                  <a:srgbClr val="85754D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4B2E83"/>
                </a:solidFill>
                <a:latin typeface="Calibri"/>
              </a:rPr>
              <a:t>45,000+</a:t>
            </a:r>
            <a:r>
              <a:rPr sz="1400" b="0" i="0">
                <a:solidFill>
                  <a:srgbClr val="241C3B"/>
                </a:solidFill>
                <a:latin typeface="Calibri"/>
              </a:rPr>
              <a:t> undergraduates across UW's three campuses (~40k at Seattle) — all plan a degree.</a:t>
            </a:r>
          </a:p>
          <a:p>
            <a:pPr>
              <a:lnSpc>
                <a:spcPct val="114000"/>
              </a:lnSpc>
              <a:spcAft>
                <a:spcPts val="1400"/>
              </a:spcAft>
            </a:pPr>
            <a:r>
              <a:rPr sz="1400" b="1">
                <a:solidFill>
                  <a:srgbClr val="85754D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241C3B"/>
                </a:solidFill>
                <a:latin typeface="Calibri"/>
              </a:rPr>
              <a:t>Highest need: </a:t>
            </a:r>
            <a:r>
              <a:rPr sz="1400" b="1" i="0">
                <a:solidFill>
                  <a:srgbClr val="241C3B"/>
                </a:solidFill>
                <a:latin typeface="Calibri"/>
              </a:rPr>
              <a:t>freshmen, transfer students, pre-major applicants</a:t>
            </a:r>
            <a:r>
              <a:rPr sz="1400" b="0" i="0">
                <a:solidFill>
                  <a:srgbClr val="241C3B"/>
                </a:solidFill>
                <a:latin typeface="Calibri"/>
              </a:rPr>
              <a:t> to capacity-capped majors, and major-switchers.</a:t>
            </a:r>
          </a:p>
          <a:p>
            <a:pPr>
              <a:lnSpc>
                <a:spcPct val="114000"/>
              </a:lnSpc>
              <a:spcAft>
                <a:spcPts val="1400"/>
              </a:spcAft>
            </a:pPr>
            <a:r>
              <a:rPr sz="1400" b="1">
                <a:solidFill>
                  <a:srgbClr val="85754D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241C3B"/>
                </a:solidFill>
                <a:latin typeface="Calibri"/>
              </a:rPr>
              <a:t>Free, no login — zero-friction; expandable to every major and to peer schools.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8C8499"/>
                </a:solidFill>
                <a:latin typeface="Calibri"/>
              </a:rPr>
              <a:t>UW Course Finder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8C8499"/>
                </a:solidFill>
                <a:latin typeface="Consolas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85754D"/>
                </a:solidFill>
                <a:latin typeface="Consolas"/>
              </a:rPr>
              <a:t>THE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0" i="0">
                <a:solidFill>
                  <a:srgbClr val="241C3B"/>
                </a:solidFill>
                <a:latin typeface="Georgia"/>
              </a:rPr>
              <a:t>Clearer planning, on-time graduation.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600"/>
              </a:spcAft>
            </a:pPr>
            <a:r>
              <a:rPr sz="1900" b="1">
                <a:solidFill>
                  <a:srgbClr val="85754D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4B2E83"/>
                </a:solidFill>
                <a:latin typeface="Calibri"/>
              </a:rPr>
              <a:t>For students: </a:t>
            </a:r>
            <a:r>
              <a:rPr sz="1900" b="0" i="0">
                <a:solidFill>
                  <a:srgbClr val="241C3B"/>
                </a:solidFill>
                <a:latin typeface="Calibri"/>
              </a:rPr>
              <a:t>better course decisions, fewer wasted credits, less adviser back-and-forth.</a:t>
            </a:r>
          </a:p>
          <a:p>
            <a:pPr>
              <a:lnSpc>
                <a:spcPct val="114000"/>
              </a:lnSpc>
              <a:spcAft>
                <a:spcPts val="1600"/>
              </a:spcAft>
            </a:pPr>
            <a:r>
              <a:rPr sz="1900" b="1">
                <a:solidFill>
                  <a:srgbClr val="85754D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4B2E83"/>
                </a:solidFill>
                <a:latin typeface="Calibri"/>
              </a:rPr>
              <a:t>Extensible by design: </a:t>
            </a:r>
            <a:r>
              <a:rPr sz="1900" b="0" i="0">
                <a:solidFill>
                  <a:srgbClr val="241C3B"/>
                </a:solidFill>
                <a:latin typeface="Calibri"/>
              </a:rPr>
              <a:t>every major is pure data — a new program is one file, no code.</a:t>
            </a:r>
          </a:p>
          <a:p>
            <a:pPr>
              <a:lnSpc>
                <a:spcPct val="114000"/>
              </a:lnSpc>
              <a:spcAft>
                <a:spcPts val="1600"/>
              </a:spcAft>
            </a:pPr>
            <a:r>
              <a:rPr sz="1900" b="1">
                <a:solidFill>
                  <a:srgbClr val="85754D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4B2E83"/>
                </a:solidFill>
                <a:latin typeface="Calibri"/>
              </a:rPr>
              <a:t>A genuine gap: </a:t>
            </a:r>
            <a:r>
              <a:rPr sz="1900" b="0" i="0">
                <a:solidFill>
                  <a:srgbClr val="241C3B"/>
                </a:solidFill>
                <a:latin typeface="Calibri"/>
              </a:rPr>
              <a:t>UW-IT’s own prereq-map (archived 2022) only </a:t>
            </a:r>
            <a:r>
              <a:rPr sz="1900" b="0" i="1">
                <a:solidFill>
                  <a:srgbClr val="241C3B"/>
                </a:solidFill>
                <a:latin typeface="Calibri"/>
              </a:rPr>
              <a:t>visualized</a:t>
            </a:r>
            <a:r>
              <a:rPr sz="1900" b="0" i="0">
                <a:solidFill>
                  <a:srgbClr val="241C3B"/>
                </a:solidFill>
                <a:latin typeface="Calibri"/>
              </a:rPr>
              <a:t> prerequisites; this </a:t>
            </a:r>
            <a:r>
              <a:rPr sz="1900" b="0" i="1">
                <a:solidFill>
                  <a:srgbClr val="241C3B"/>
                </a:solidFill>
                <a:latin typeface="Calibri"/>
              </a:rPr>
              <a:t>plans</a:t>
            </a:r>
            <a:r>
              <a:rPr sz="1900" b="0" i="0">
                <a:solidFill>
                  <a:srgbClr val="241C3B"/>
                </a:solidFill>
                <a:latin typeface="Calibri"/>
              </a:rPr>
              <a:t> a personalized degree.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4434840"/>
            <a:ext cx="10515600" cy="1280160"/>
          </a:xfrm>
          <a:prstGeom prst="roundRect">
            <a:avLst>
              <a:gd name="adj" fmla="val 4000"/>
            </a:avLst>
          </a:prstGeom>
          <a:solidFill>
            <a:srgbClr val="FCFBF7"/>
          </a:solidFill>
          <a:ln w="12700">
            <a:solidFill>
              <a:srgbClr val="B7A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572000"/>
            <a:ext cx="9966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 i="0">
                <a:solidFill>
                  <a:srgbClr val="241C3B"/>
                </a:solidFill>
                <a:latin typeface="Calibri"/>
              </a:rPr>
              <a:t>A natural input to MyPlan and advising — turning static requirements into a living, personal roadmap for every Husky.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8C8499"/>
                </a:solidFill>
                <a:latin typeface="Calibri"/>
              </a:rPr>
              <a:t>UW Course Finder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8C8499"/>
                </a:solidFill>
                <a:latin typeface="Consolas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85754D"/>
                </a:solidFill>
                <a:latin typeface="Consolas"/>
              </a:rPr>
              <a:t>WHAT’S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0" i="0">
                <a:solidFill>
                  <a:srgbClr val="241C3B"/>
                </a:solidFill>
                <a:latin typeface="Georgia"/>
              </a:rPr>
              <a:t>Roadmap.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57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600"/>
              </a:spcAft>
            </a:pPr>
            <a:r>
              <a:rPr sz="2000" b="1">
                <a:solidFill>
                  <a:srgbClr val="85754D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241C3B"/>
                </a:solidFill>
                <a:latin typeface="Calibri"/>
              </a:rPr>
              <a:t>Expand to more majors and minors across all three campuses.</a:t>
            </a:r>
          </a:p>
          <a:p>
            <a:pPr>
              <a:lnSpc>
                <a:spcPct val="114000"/>
              </a:lnSpc>
              <a:spcAft>
                <a:spcPts val="1600"/>
              </a:spcAft>
            </a:pPr>
            <a:r>
              <a:rPr sz="2000" b="1">
                <a:solidFill>
                  <a:srgbClr val="85754D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241C3B"/>
                </a:solidFill>
                <a:latin typeface="Calibri"/>
              </a:rPr>
              <a:t>Model UW’s full “one-of / all-of” prerequisite logic for exact accuracy.</a:t>
            </a:r>
          </a:p>
          <a:p>
            <a:pPr>
              <a:lnSpc>
                <a:spcPct val="114000"/>
              </a:lnSpc>
              <a:spcAft>
                <a:spcPts val="1600"/>
              </a:spcAft>
            </a:pPr>
            <a:r>
              <a:rPr sz="2000" b="1">
                <a:solidFill>
                  <a:srgbClr val="85754D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241C3B"/>
                </a:solidFill>
                <a:latin typeface="Calibri"/>
              </a:rPr>
              <a:t>Live course &amp; offerings data via a MyPlan partnership.</a:t>
            </a:r>
          </a:p>
          <a:p>
            <a:pPr>
              <a:lnSpc>
                <a:spcPct val="114000"/>
              </a:lnSpc>
              <a:spcAft>
                <a:spcPts val="1600"/>
              </a:spcAft>
            </a:pPr>
            <a:r>
              <a:rPr sz="2000" b="1">
                <a:solidFill>
                  <a:srgbClr val="85754D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241C3B"/>
                </a:solidFill>
                <a:latin typeface="Calibri"/>
              </a:rPr>
              <a:t>Save, compare, and share plans; mobile-first layout.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8C8499"/>
                </a:solidFill>
                <a:latin typeface="Calibri"/>
              </a:rPr>
              <a:t>UW Course Finder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8C8499"/>
                </a:solidFill>
                <a:latin typeface="Consolas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 i="0">
                <a:solidFill>
                  <a:srgbClr val="B7A57A"/>
                </a:solidFill>
                <a:latin typeface="Consolas"/>
              </a:rPr>
              <a:t>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5600" b="0" i="0">
                <a:solidFill>
                  <a:srgbClr val="FFFFFF"/>
                </a:solidFill>
                <a:latin typeface="Georgia"/>
              </a:rPr>
              <a:t>Plan your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1089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Live demo:  </a:t>
            </a:r>
            <a:r>
              <a:rPr sz="2000" b="0" i="0">
                <a:solidFill>
                  <a:srgbClr val="D7CFE6"/>
                </a:solidFill>
                <a:latin typeface="Calibri"/>
              </a:rPr>
              <a:t>svog23.github.io/uwcoursefinder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Code:  </a:t>
            </a:r>
            <a:r>
              <a:rPr sz="2000" b="0" i="0">
                <a:solidFill>
                  <a:srgbClr val="D7CFE6"/>
                </a:solidFill>
                <a:latin typeface="Calibri"/>
              </a:rPr>
              <a:t>github.com/SVOG23/UWCourseFinder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Contact:  </a:t>
            </a:r>
            <a:r>
              <a:rPr sz="2000" b="0" i="0">
                <a:solidFill>
                  <a:srgbClr val="D7CFE6"/>
                </a:solidFill>
                <a:latin typeface="Calibri"/>
              </a:rPr>
              <a:t>Suraj Vaghela · surajv23@uw.edu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577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D7CFE6"/>
                </a:solidFill>
                <a:latin typeface="Calibri"/>
              </a:rPr>
              <a:t>An unofficial, student-built planning aid — not affiliated with or endorsed by UW.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D7CFE6"/>
                </a:solidFill>
                <a:latin typeface="Calibri"/>
              </a:rPr>
              <a:t>University of Washington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D7CFE6"/>
                </a:solidFill>
                <a:latin typeface="Consolas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